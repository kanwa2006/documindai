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4389120" cy="6784848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DocuMind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488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CFF"/>
                </a:solidFill>
              </a:rPr>
              <a:t>Smart PDF Q&amp;A with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0B8FF"/>
                </a:solidFill>
              </a:rPr>
              <a:t>No Hallucination  ·  OCR Support  ·  Per-User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E68"/>
                </a:solidFill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0116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M. Srichakra Kanwa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78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E68"/>
                </a:solidFill>
              </a:rPr>
              <a:t>23STUCHH010756  |  B.Tech 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9443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E68"/>
                </a:solidFill>
              </a:rPr>
              <a:t>IcfaiTech, Hyderabad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3566160"/>
            <a:ext cx="6858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703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E68"/>
                </a:solidFill>
              </a:rPr>
              <a:t>Mentor: Dr. K. Bhargavi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069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E68"/>
                </a:solidFill>
              </a:rPr>
              <a:t>HOD: Dr. P. Rohini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Why existing solutions fail students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600">
                <a:solidFill>
                  <a:srgbClr val="1E293B"/>
                </a:solidFill>
              </a:rPr>
              <a:t>  📄  Students drown in large PDFs — no quick answers</a:t>
            </a:r>
          </a:p>
          <a:p>
            <a:pPr>
              <a:spcBef>
                <a:spcPts val="800"/>
              </a:spcBef>
            </a:pPr>
            <a:r>
              <a:rPr sz="2600">
                <a:solidFill>
                  <a:srgbClr val="1E293B"/>
                </a:solidFill>
              </a:rPr>
              <a:t>  🔍  Keyword search misses context and meaning</a:t>
            </a:r>
          </a:p>
          <a:p>
            <a:pPr>
              <a:spcBef>
                <a:spcPts val="800"/>
              </a:spcBef>
            </a:pPr>
            <a:r>
              <a:rPr sz="2600">
                <a:solidFill>
                  <a:srgbClr val="1E293B"/>
                </a:solidFill>
              </a:rPr>
              <a:t>  🤖  Generic AI chatbots hallucinate &amp; make up facts</a:t>
            </a:r>
          </a:p>
          <a:p>
            <a:pPr>
              <a:spcBef>
                <a:spcPts val="800"/>
              </a:spcBef>
            </a:pPr>
            <a:r>
              <a:rPr sz="2600">
                <a:solidFill>
                  <a:srgbClr val="1E293B"/>
                </a:solidFill>
              </a:rPr>
              <a:t>  🔒  No document privacy — shared AI knows everything</a:t>
            </a:r>
          </a:p>
          <a:p>
            <a:pPr>
              <a:spcBef>
                <a:spcPts val="800"/>
              </a:spcBef>
            </a:pPr>
            <a:r>
              <a:rPr sz="2600">
                <a:solidFill>
                  <a:srgbClr val="1E293B"/>
                </a:solidFill>
              </a:rPr>
              <a:t>  ⏳  Hours wasted re-reading to find one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The Solution — DocuMind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One intelligent system. Zero hallucination.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4114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566160" cy="54864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E293B"/>
                </a:solidFill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65DD6"/>
                </a:solidFill>
              </a:rPr>
              <a:t>Smart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334E68"/>
                </a:solidFill>
              </a:rPr>
              <a:t>Ask questions in plain English,
get accurate answers instantly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417320"/>
            <a:ext cx="3566160" cy="4114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417320"/>
            <a:ext cx="3566160" cy="54864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33288" y="15544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E293B"/>
                </a:solidFill>
              </a:rP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65DD6"/>
                </a:solidFill>
              </a:rPr>
              <a:t>RAG Powered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8803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334E68"/>
                </a:solidFill>
              </a:rPr>
              <a:t>Retrieval-Augmented Generation
guarantees source-backed replies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5" y="1417320"/>
            <a:ext cx="3566160" cy="4114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5" y="1417320"/>
            <a:ext cx="3566160" cy="54864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37776" y="15544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E293B"/>
                </a:solidFill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65DD6"/>
                </a:solidFill>
              </a:rPr>
              <a:t>Per-User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8803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334E68"/>
                </a:solidFill>
              </a:rPr>
              <a:t>Every user's docs are isolated
— no data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4 focused goals for DocuMind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800">
                <a:solidFill>
                  <a:srgbClr val="1E293B"/>
                </a:solidFill>
              </a:rPr>
              <a:t>  🎯  Build an intelligent document Q&amp;A system using RAG</a:t>
            </a:r>
          </a:p>
          <a:p>
            <a:pPr>
              <a:spcBef>
                <a:spcPts val="800"/>
              </a:spcBef>
            </a:pPr>
            <a:r>
              <a:rPr sz="2800">
                <a:solidFill>
                  <a:srgbClr val="1E293B"/>
                </a:solidFill>
              </a:rPr>
              <a:t>  📷  Support scanned PDFs via Tesseract OCR</a:t>
            </a:r>
          </a:p>
          <a:p>
            <a:pPr>
              <a:spcBef>
                <a:spcPts val="800"/>
              </a:spcBef>
            </a:pPr>
            <a:r>
              <a:rPr sz="2800">
                <a:solidFill>
                  <a:srgbClr val="1E293B"/>
                </a:solidFill>
              </a:rPr>
              <a:t>  ✅  Deliver accurate, hallucination-free AI answers</a:t>
            </a:r>
          </a:p>
          <a:p>
            <a:pPr>
              <a:spcBef>
                <a:spcPts val="800"/>
              </a:spcBef>
            </a:pPr>
            <a:r>
              <a:rPr sz="2800">
                <a:solidFill>
                  <a:srgbClr val="1E293B"/>
                </a:solidFill>
              </a:rPr>
              <a:t>  🔐  Implement secure user authentication (JWT + OTP)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End-to-end flow from user to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377440"/>
            <a:ext cx="2377440" cy="2377440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👤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5768" y="32918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65DD6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2032" y="2377440"/>
            <a:ext cx="2377440" cy="2377440"/>
          </a:xfrm>
          <a:prstGeom prst="rect">
            <a:avLst/>
          </a:prstGeom>
          <a:solidFill>
            <a:srgbClr val="069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⚛️ React
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2918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65DD6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377440"/>
            <a:ext cx="2377440" cy="23774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⚡ FastAPI
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32918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65DD6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7728" y="2377440"/>
            <a:ext cx="2377440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🔢 FAISS
Vector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32918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65DD6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2377440"/>
            <a:ext cx="2377440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3774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🤖 Gemini
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334E68"/>
                </a:solidFill>
              </a:rPr>
              <a:t>Upload PDF  →  Chunk &amp; Embed  →  Store in FAISS  →  Retrieve  →  Generate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RAG Pipeline — Step 1: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Turning your PDF into searchable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0" cy="777240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898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PDF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173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User uploads digital or scanned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762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731520" cy="777240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Text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231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PyMuPDF (digital) or Tesseract OCR (scanned)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8211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731520" cy="777240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✂️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Chunking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4290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Split into 1000-char chunks with 200-char overlap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18795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731520" cy="777240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074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Embedding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43484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Google text-embedding-004 → dense vectors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1937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731520" cy="777240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9496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413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4406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FAISS index saved per-user on disk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RAG Pipeline — Step 2: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Finding the most relevant context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0" cy="777240"/>
          </a:xfrm>
          <a:prstGeom prst="rect">
            <a:avLst/>
          </a:prstGeom>
          <a:solidFill>
            <a:srgbClr val="069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898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95C4"/>
                </a:solidFill>
              </a:rPr>
              <a:t>User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173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Question entered in natural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762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731520" cy="777240"/>
          </a:xfrm>
          <a:prstGeom prst="rect">
            <a:avLst/>
          </a:prstGeom>
          <a:solidFill>
            <a:srgbClr val="069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95C4"/>
                </a:solidFill>
              </a:rPr>
              <a:t>Query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231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Same embedding model converts question to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8211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731520" cy="777240"/>
          </a:xfrm>
          <a:prstGeom prst="rect">
            <a:avLst/>
          </a:prstGeom>
          <a:solidFill>
            <a:srgbClr val="069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95C4"/>
                </a:solidFill>
              </a:rPr>
              <a:t>FAISS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4290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Top-K similar chunks retrieved (cosine similarity)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18795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731520" cy="777240"/>
          </a:xfrm>
          <a:prstGeom prst="rect">
            <a:avLst/>
          </a:prstGeom>
          <a:solidFill>
            <a:srgbClr val="069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074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95C4"/>
                </a:solidFill>
              </a:rPr>
              <a:t>Deduplication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43484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Diversity-aware filtering removes redundant chunks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1937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731520" cy="777240"/>
          </a:xfrm>
          <a:prstGeom prst="rect">
            <a:avLst/>
          </a:prstGeom>
          <a:solidFill>
            <a:srgbClr val="069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9496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413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95C4"/>
                </a:solidFill>
              </a:rPr>
              <a:t>Context 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4406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Relevant chunks assembled as LLM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RAG Pipeline — Step 3: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Turning retrieved context into a reliable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898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Prompt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173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System prompt + retrieved context + user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762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73152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Gemini LLM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231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gemini-2.5-flash with temperature 0.2 (precise)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8211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73152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Key Rotation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4290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10 API keys rotated — no rate-limit failures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18795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73152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074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Answer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43484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Source-cited, structured markdown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1937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73152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9496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413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Zero Hallucination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4406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Answer strictly from document — never fabricated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What makes DocuMind AI stand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2194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77840" cy="54864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5DD6"/>
                </a:solidFill>
              </a:rPr>
              <a:t>📷  OCR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Scanned &amp; handwritten PDFs handled via Tesseract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577840" cy="2194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577840" cy="54864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5DD6"/>
                </a:solidFill>
              </a:rPr>
              <a:t>🛡️  Zero Hallucination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Answers only from your documents — always cited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577840" cy="2194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577840" cy="54864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5DD6"/>
                </a:solidFill>
              </a:rPr>
              <a:t>🔒  Per-User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59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Isolated FAISS index + JWT + OTP email 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931920"/>
            <a:ext cx="5577840" cy="2194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931920"/>
            <a:ext cx="5577840" cy="54864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0690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5DD6"/>
                </a:solidFill>
              </a:rPr>
              <a:t>📐  Split 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09159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4E68"/>
                </a:solidFill>
              </a:rPr>
              <a:t>PDF + live Q&amp;A side-by-side in one screen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Technologies powering DocuMind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77840" cy="2331720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7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⚡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47672"/>
            <a:ext cx="5577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7568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FastAPI  ·  Python  ·  SQLAlchemy  ·  SQLite / 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5577840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35607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🤖 AI / 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947672"/>
            <a:ext cx="5577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7568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Gemini 2.5 Flash  ·  FAISS  ·  Google Embeddings  ·  Tesseract OCR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577840" cy="2331720"/>
          </a:xfrm>
          <a:prstGeom prst="rect">
            <a:avLst/>
          </a:prstGeom>
          <a:solidFill>
            <a:srgbClr val="069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⚛️ Frontend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53712"/>
            <a:ext cx="5577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817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React + Vite  ·  Axios  ·  Custom Markdown  ·  BrainOrb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931920"/>
            <a:ext cx="5577840" cy="23317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0416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☁️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553712"/>
            <a:ext cx="5577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6817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Railway (Backend)  ·  Vercel (Frontend)  ·  JWT Auth  ·  OTP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Results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Measured on real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53312"/>
            <a:ext cx="11247120" cy="7498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721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Digital PDF Indexing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47218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4E68"/>
                </a:solidFill>
              </a:rPr>
              <a:t>~15–30 seconds for 50-page 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🖨️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591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Scanned PDF (OCR)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359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4E68"/>
                </a:solidFill>
              </a:rPr>
              <a:t>~1–2 minutes with Tesseract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27248"/>
            <a:ext cx="11247120" cy="7498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369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Query Response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4E68"/>
                </a:solidFill>
              </a:rPr>
              <a:t>3–8 seconds end-to-end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14216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2394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330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Answer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1330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4E68"/>
                </a:solidFill>
              </a:rPr>
              <a:t>Source-cited, zero hallucination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01183"/>
            <a:ext cx="11247120" cy="7498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109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02005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API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020055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4E68"/>
                </a:solidFill>
              </a:rPr>
              <a:t>10-key rotation — 0 downtime failures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88152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897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293B"/>
                </a:solidFill>
              </a:rPr>
              <a:t>🖥️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9070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65DD6"/>
                </a:solidFill>
              </a:rPr>
              <a:t>UI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590702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4E68"/>
                </a:solidFill>
              </a:rPr>
              <a:t>Split-pane viewer, dark/light theme, animations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5DD6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E68"/>
                </a:solidFill>
              </a:rPr>
              <a:t>What we built and where it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94960" cy="4572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54864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5DD6"/>
                </a:solidFill>
              </a:rPr>
              <a:t>✅  What We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1E293B"/>
                </a:solidFill>
              </a:rPr>
              <a:t>▸  System works — tested on real PDFs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E293B"/>
                </a:solidFill>
              </a:rPr>
              <a:t>▸  Solves a real problem for students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E293B"/>
                </a:solidFill>
              </a:rPr>
              <a:t>▸  Ready for deployment on Railway + Vercel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E293B"/>
                </a:solidFill>
              </a:rPr>
              <a:t>▸  Zero hallucination guaranteed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325880"/>
            <a:ext cx="5394960" cy="4572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1325880"/>
            <a:ext cx="53949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</a:rPr>
              <a:t>🚀  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96596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1E293B"/>
                </a:solidFill>
              </a:rPr>
              <a:t>▸  Mobile app (iOS &amp; Android)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E293B"/>
                </a:solidFill>
              </a:rPr>
              <a:t>▸  Multi-format: DOCX, PPTX, Excel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1E293B"/>
                </a:solidFill>
              </a:rPr>
              <a:t>▸  Team collaboration workspaces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4E68"/>
                </a:solidFill>
              </a:rPr>
              <a:t>12/12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26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B0CCFF"/>
                </a:solidFill>
              </a:rPr>
              <a:t>Any 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977639"/>
            <a:ext cx="5788152" cy="36576"/>
          </a:xfrm>
          <a:prstGeom prst="rect">
            <a:avLst/>
          </a:prstGeom>
          <a:solidFill>
            <a:srgbClr val="9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FF"/>
                </a:solidFill>
              </a:rPr>
              <a:t>M. Srichakra Kanwa  |  23STUCHH010756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CCFF"/>
                </a:solidFill>
              </a:rPr>
              <a:t>B.Tech CS  ·  IcfaiTech Hyderabad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CCFF"/>
                </a:solidFill>
              </a:rPr>
              <a:t>Mentor: Dr. K. Bhargavi  |  HOD: Dr. P. Rohini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0A8DD"/>
                </a:solidFill>
              </a:rPr>
              <a:t>41 source files  ·  22 API endpoints  ·  FastAPI + React + FAISS + 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